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До оптимизации (мс)</c:v>
                </c:pt>
              </c:strCache>
            </c:strRef>
          </c:tx>
          <c:spPr>
            <a:solidFill>
              <a:srgbClr val="8C82C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Сверка 2400 SKU</c:v>
                </c:pt>
                <c:pt idx="1">
                  <c:v>Stream API</c:v>
                </c:pt>
                <c:pt idx="2">
                  <c:v>Анализ логов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1301</c:v>
                </c:pt>
                <c:pt idx="1">
                  <c:v>162</c:v>
                </c:pt>
                <c:pt idx="2">
                  <c:v>101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оптимизации (мс)</c:v>
                </c:pt>
              </c:strCache>
            </c:strRef>
          </c:tx>
          <c:spPr>
            <a:solidFill>
              <a:srgbClr val="3B388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Сверка 2400 SKU</c:v>
                </c:pt>
                <c:pt idx="1">
                  <c:v>Stream API</c:v>
                </c:pt>
                <c:pt idx="2">
                  <c:v>Анализ логов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137</c:v>
                </c:pt>
                <c:pt idx="1">
                  <c:v>14</c:v>
                </c:pt>
                <c:pt idx="2">
                  <c:v>1.4</c:v>
                </c:pt>
              </c:numCache>
            </c:numRef>
          </c:val>
        </c:ser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23283A"/>
                </a:solidFill>
                <a:latin typeface="Carlit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3D455A"/>
                </a:solidFill>
                <a:latin typeface="Carlito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23283A"/>
              </a:solidFill>
              <a:latin typeface="Carlit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35337A"/>
              </a:gs>
              <a:gs pos="52000">
                <a:srgbClr val="524A98"/>
              </a:gs>
              <a:gs pos="100000">
                <a:srgbClr val="7868B6"/>
              </a:gs>
            </a:gsLst>
            <a:lin ang="15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" y="6126480"/>
            <a:ext cx="10927080" cy="13716"/>
          </a:xfrm>
          <a:prstGeom prst="rect">
            <a:avLst/>
          </a:prstGeom>
          <a:solidFill>
            <a:srgbClr val="8E8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6254496"/>
            <a:ext cx="77724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rlito"/>
              </a:rPr>
              <a:t>Axenix Java Blueprints,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254496"/>
            <a:ext cx="1124712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Carlito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50292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E2DFF5"/>
                </a:solidFill>
                <a:latin typeface="Carlito"/>
              </a:rPr>
              <a:t>Хакатон Axenix  /  Java Blueprints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965960"/>
            <a:ext cx="1051560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>
                <a:solidFill>
                  <a:srgbClr val="E2DFF5"/>
                </a:solidFill>
                <a:latin typeface="Carlito"/>
              </a:rPr>
              <a:t>Инженерный кейс: визуальное моделирование и анализ кода</a:t>
            </a:r>
          </a:p>
          <a:p>
            <a:pPr algn="l">
              <a:spcAft>
                <a:spcPts val="2000"/>
              </a:spcAft>
            </a:pPr>
            <a:r>
              <a:rPr sz="4000" b="0">
                <a:solidFill>
                  <a:srgbClr val="FFFFFF"/>
                </a:solidFill>
                <a:latin typeface="Carlito"/>
              </a:rPr>
              <a:t>Среда визуального анализа и оптимизации Java-монолитов</a:t>
            </a:r>
          </a:p>
          <a:p>
            <a:pPr algn="l"/>
            <a:r>
              <a:rPr sz="2000" b="0">
                <a:solidFill>
                  <a:srgbClr val="E2DFF5"/>
                </a:solidFill>
                <a:latin typeface="Carlito"/>
              </a:rPr>
              <a:t>Построение графа потока управления из AST, замена вложенных циклов O(n²) и проверка совпадения вывода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35337A"/>
              </a:gs>
              <a:gs pos="52000">
                <a:srgbClr val="524A98"/>
              </a:gs>
              <a:gs pos="100000">
                <a:srgbClr val="7868B6"/>
              </a:gs>
            </a:gsLst>
            <a:lin ang="15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4944" y="1481328"/>
            <a:ext cx="10844784" cy="3968496"/>
          </a:xfrm>
          <a:prstGeom prst="roundRect">
            <a:avLst>
              <a:gd name="adj" fmla="val 5500"/>
            </a:avLst>
          </a:prstGeom>
          <a:solidFill>
            <a:srgbClr val="C2C6D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1426464"/>
            <a:ext cx="10844784" cy="3968496"/>
          </a:xfrm>
          <a:prstGeom prst="roundRect">
            <a:avLst>
              <a:gd name="adj" fmla="val 5500"/>
            </a:avLst>
          </a:prstGeom>
          <a:solidFill>
            <a:srgbClr val="EE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1248" y="1591056"/>
          <a:ext cx="10405872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7022592"/>
              </a:tblGrid>
              <a:tr h="59740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3283A"/>
                          </a:solidFill>
                          <a:latin typeface="Carlito"/>
                        </a:rPr>
                        <a:t>Входной монолит (1 053 строки)</a:t>
                      </a:r>
                    </a:p>
                  </a:txBody>
                  <a:tcPr anchor="ctr">
                    <a:solidFill>
                      <a:srgbClr val="EEF3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DCD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3D455A"/>
                          </a:solidFill>
                          <a:latin typeface="Carlito"/>
                        </a:rPr>
                        <a:t>однофайловая программа обработки заказов и склада из 77 методов</a:t>
                      </a:r>
                    </a:p>
                  </a:txBody>
                  <a:tcPr anchor="ctr">
                    <a:solidFill>
                      <a:srgbClr val="EEF3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DCD1"/>
                      </a:solidFill>
                    </a:lnB>
                  </a:tcPr>
                </a:tc>
              </a:tr>
              <a:tr h="59740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3283A"/>
                          </a:solidFill>
                          <a:latin typeface="Carlito"/>
                        </a:rPr>
                        <a:t>Парсер AST и граф CFG</a:t>
                      </a:r>
                    </a:p>
                  </a:txBody>
                  <a:tcPr anchor="ctr">
                    <a:solidFill>
                      <a:srgbClr val="EEF3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DCD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3D455A"/>
                          </a:solidFill>
                          <a:latin typeface="Carlito"/>
                        </a:rPr>
                        <a:t>разбор синтаксического дерева через OpenJDK 17 Compiler API за 50 мс</a:t>
                      </a:r>
                    </a:p>
                  </a:txBody>
                  <a:tcPr anchor="ctr">
                    <a:solidFill>
                      <a:srgbClr val="EEF3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DCD1"/>
                      </a:solidFill>
                    </a:lnB>
                  </a:tcPr>
                </a:tc>
              </a:tr>
              <a:tr h="59740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3283A"/>
                          </a:solidFill>
                          <a:latin typeface="Carlito"/>
                        </a:rPr>
                        <a:t>Двусторонняя связь кода и графа</a:t>
                      </a:r>
                    </a:p>
                  </a:txBody>
                  <a:tcPr anchor="ctr">
                    <a:solidFill>
                      <a:srgbClr val="EEF3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DCD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3D455A"/>
                          </a:solidFill>
                          <a:latin typeface="Carlito"/>
                        </a:rPr>
                        <a:t>правка узла на блок-схеме сразу обновляет строку исходного кода Java</a:t>
                      </a:r>
                    </a:p>
                  </a:txBody>
                  <a:tcPr anchor="ctr">
                    <a:solidFill>
                      <a:srgbClr val="EEF3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DCD1"/>
                      </a:solidFill>
                    </a:lnB>
                  </a:tcPr>
                </a:tc>
              </a:tr>
              <a:tr h="59740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3283A"/>
                          </a:solidFill>
                          <a:latin typeface="Carlito"/>
                        </a:rPr>
                        <a:t>Поиск вложенных циклов</a:t>
                      </a:r>
                    </a:p>
                  </a:txBody>
                  <a:tcPr anchor="ctr">
                    <a:solidFill>
                      <a:srgbClr val="EEF3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DCD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3D455A"/>
                          </a:solidFill>
                          <a:latin typeface="Carlito"/>
                        </a:rPr>
                        <a:t>вычисление глубины циклов O(n²), цикломатической и когнитивной сложности</a:t>
                      </a:r>
                    </a:p>
                  </a:txBody>
                  <a:tcPr anchor="ctr">
                    <a:solidFill>
                      <a:srgbClr val="EEF3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DCD1"/>
                      </a:solidFill>
                    </a:lnB>
                  </a:tcPr>
                </a:tc>
              </a:tr>
              <a:tr h="59740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3283A"/>
                          </a:solidFill>
                          <a:latin typeface="Carlito"/>
                        </a:rPr>
                        <a:t>Индексация через HashMap</a:t>
                      </a:r>
                    </a:p>
                  </a:txBody>
                  <a:tcPr anchor="ctr">
                    <a:solidFill>
                      <a:srgbClr val="EEF3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DCD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3D455A"/>
                          </a:solidFill>
                          <a:latin typeface="Carlito"/>
                        </a:rPr>
                        <a:t>замена повторного обхода списка на выборку по ключу за O(1)</a:t>
                      </a:r>
                    </a:p>
                  </a:txBody>
                  <a:tcPr anchor="ctr">
                    <a:solidFill>
                      <a:srgbClr val="EEF3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DCD1"/>
                      </a:solidFill>
                    </a:lnB>
                  </a:tcPr>
                </a:tc>
              </a:tr>
              <a:tr h="59740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3283A"/>
                          </a:solidFill>
                          <a:latin typeface="Carlito"/>
                        </a:rPr>
                        <a:t>Проверка совпадения вывода</a:t>
                      </a:r>
                    </a:p>
                  </a:txBody>
                  <a:tcPr anchor="ctr">
                    <a:solidFill>
                      <a:srgbClr val="EEF3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EF3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3D455A"/>
                          </a:solidFill>
                          <a:latin typeface="Carlito"/>
                        </a:rPr>
                        <a:t>сравнение отчётов на 16 тестовых наборах и 50 сгенерированных примерах</a:t>
                      </a:r>
                    </a:p>
                  </a:txBody>
                  <a:tcPr anchor="ctr">
                    <a:solidFill>
                      <a:srgbClr val="EEF3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EF3E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" y="438912"/>
            <a:ext cx="8046720" cy="7498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  <a:latin typeface="Carlito"/>
              </a:rPr>
              <a:t>Устройство среды: основные модули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512064"/>
            <a:ext cx="278892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400" b="0">
                <a:solidFill>
                  <a:srgbClr val="E2DFF5"/>
                </a:solidFill>
                <a:latin typeface="Carlito"/>
              </a:rPr>
              <a:t>Axenix  /  </a:t>
            </a:r>
            <a:r>
              <a:rPr sz="1400" b="0">
                <a:solidFill>
                  <a:srgbClr val="FFFFFF"/>
                </a:solidFill>
                <a:latin typeface="Carlito"/>
              </a:rPr>
              <a:t>Java Blueprints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6126480"/>
            <a:ext cx="10927080" cy="13716"/>
          </a:xfrm>
          <a:prstGeom prst="rect">
            <a:avLst/>
          </a:prstGeom>
          <a:solidFill>
            <a:srgbClr val="8E8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5632704"/>
            <a:ext cx="10881360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0">
                <a:solidFill>
                  <a:srgbClr val="E2DFF5"/>
                </a:solidFill>
                <a:latin typeface="Carlito"/>
              </a:rPr>
              <a:t>Парсер строит дерево разбора напрямую через стандартный API компилятора OpenJDK 17 без сторонних библиотек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254496"/>
            <a:ext cx="77724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rlito"/>
              </a:rPr>
              <a:t>Axenix Java Blueprints,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254496"/>
            <a:ext cx="1124712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Carlit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35337A"/>
              </a:gs>
              <a:gs pos="52000">
                <a:srgbClr val="524A98"/>
              </a:gs>
              <a:gs pos="100000">
                <a:srgbClr val="7868B6"/>
              </a:gs>
            </a:gsLst>
            <a:lin ang="15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4944" y="1463040"/>
            <a:ext cx="5276088" cy="4023360"/>
          </a:xfrm>
          <a:prstGeom prst="roundRect">
            <a:avLst>
              <a:gd name="adj" fmla="val 5500"/>
            </a:avLst>
          </a:prstGeom>
          <a:solidFill>
            <a:srgbClr val="C2C6D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1408176"/>
            <a:ext cx="5276088" cy="4023360"/>
          </a:xfrm>
          <a:prstGeom prst="roundRect">
            <a:avLst>
              <a:gd name="adj" fmla="val 5500"/>
            </a:avLst>
          </a:prstGeom>
          <a:solidFill>
            <a:srgbClr val="EE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481328"/>
            <a:ext cx="4910328" cy="49377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1">
                <a:solidFill>
                  <a:srgbClr val="3B3884"/>
                </a:solidFill>
                <a:latin typeface="Carlito"/>
              </a:rPr>
              <a:t>Светлая тема: </a:t>
            </a:r>
            <a:r>
              <a:rPr sz="1500" b="0">
                <a:solidFill>
                  <a:srgbClr val="3D455A"/>
                </a:solidFill>
                <a:latin typeface="Carlito"/>
              </a:rPr>
              <a:t>граф потока управления метода processOrders() и метрики</a:t>
            </a:r>
          </a:p>
        </p:txBody>
      </p:sp>
      <p:pic>
        <p:nvPicPr>
          <p:cNvPr id="6" name="Picture 5" descr="shot_1_light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048256"/>
            <a:ext cx="4983480" cy="29900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72784" y="1463040"/>
            <a:ext cx="5276088" cy="4023360"/>
          </a:xfrm>
          <a:prstGeom prst="roundRect">
            <a:avLst>
              <a:gd name="adj" fmla="val 5500"/>
            </a:avLst>
          </a:prstGeom>
          <a:solidFill>
            <a:srgbClr val="C2C6D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99632" y="1408176"/>
            <a:ext cx="5276088" cy="4023360"/>
          </a:xfrm>
          <a:prstGeom prst="roundRect">
            <a:avLst>
              <a:gd name="adj" fmla="val 5500"/>
            </a:avLst>
          </a:prstGeom>
          <a:solidFill>
            <a:srgbClr val="EE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481328"/>
            <a:ext cx="4910328" cy="49377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1">
                <a:solidFill>
                  <a:srgbClr val="3B3884"/>
                </a:solidFill>
                <a:latin typeface="Carlito"/>
              </a:rPr>
              <a:t>Тёмная тема: </a:t>
            </a:r>
            <a:r>
              <a:rPr sz="1500" b="0">
                <a:solidFill>
                  <a:srgbClr val="3D455A"/>
                </a:solidFill>
                <a:latin typeface="Carlito"/>
              </a:rPr>
              <a:t>приглушённая графитовая палитра для длительной работы с кодом</a:t>
            </a:r>
          </a:p>
        </p:txBody>
      </p:sp>
      <p:pic>
        <p:nvPicPr>
          <p:cNvPr id="10" name="Picture 9" descr="shot_2_dark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2048256"/>
            <a:ext cx="4983480" cy="29900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" y="438912"/>
            <a:ext cx="8046720" cy="7498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  <a:latin typeface="Carlito"/>
              </a:rPr>
              <a:t>Общий вид веб-интерфейса: светлая и тёмная темы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12064"/>
            <a:ext cx="278892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400" b="0">
                <a:solidFill>
                  <a:srgbClr val="E2DFF5"/>
                </a:solidFill>
                <a:latin typeface="Carlito"/>
              </a:rPr>
              <a:t>Axenix  /  </a:t>
            </a:r>
            <a:r>
              <a:rPr sz="1400" b="0">
                <a:solidFill>
                  <a:srgbClr val="FFFFFF"/>
                </a:solidFill>
                <a:latin typeface="Carlito"/>
              </a:rPr>
              <a:t>Java Blueprints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6126480"/>
            <a:ext cx="10927080" cy="13716"/>
          </a:xfrm>
          <a:prstGeom prst="rect">
            <a:avLst/>
          </a:prstGeom>
          <a:solidFill>
            <a:srgbClr val="8E8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5632704"/>
            <a:ext cx="10881360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0">
                <a:solidFill>
                  <a:srgbClr val="E2DFF5"/>
                </a:solidFill>
                <a:latin typeface="Carlito"/>
              </a:rPr>
              <a:t>Обе темы оформления используют единую сетку для графа потока управления и таблиц диагностики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254496"/>
            <a:ext cx="77724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rlito"/>
              </a:rPr>
              <a:t>Axenix Java Blueprints,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254496"/>
            <a:ext cx="1124712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Carlit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35337A"/>
              </a:gs>
              <a:gs pos="52000">
                <a:srgbClr val="524A98"/>
              </a:gs>
              <a:gs pos="100000">
                <a:srgbClr val="7868B6"/>
              </a:gs>
            </a:gsLst>
            <a:lin ang="15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4944" y="1463040"/>
            <a:ext cx="5276088" cy="4023360"/>
          </a:xfrm>
          <a:prstGeom prst="roundRect">
            <a:avLst>
              <a:gd name="adj" fmla="val 5500"/>
            </a:avLst>
          </a:prstGeom>
          <a:solidFill>
            <a:srgbClr val="C2C6D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1408176"/>
            <a:ext cx="5276088" cy="4023360"/>
          </a:xfrm>
          <a:prstGeom prst="roundRect">
            <a:avLst>
              <a:gd name="adj" fmla="val 5500"/>
            </a:avLst>
          </a:prstGeom>
          <a:solidFill>
            <a:srgbClr val="EE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481328"/>
            <a:ext cx="4910328" cy="49377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1">
                <a:solidFill>
                  <a:srgbClr val="3B3884"/>
                </a:solidFill>
                <a:latin typeface="Carlito"/>
              </a:rPr>
              <a:t>Локализация узких мест: </a:t>
            </a:r>
            <a:r>
              <a:rPr sz="1500" b="0">
                <a:solidFill>
                  <a:srgbClr val="3D455A"/>
                </a:solidFill>
                <a:latin typeface="Carlito"/>
              </a:rPr>
              <a:t>выделение вложенного цикла O(n²) в строке 745</a:t>
            </a:r>
          </a:p>
        </p:txBody>
      </p:sp>
      <p:pic>
        <p:nvPicPr>
          <p:cNvPr id="6" name="Picture 5" descr="shot_3_defect_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048256"/>
            <a:ext cx="4983480" cy="29900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72784" y="1463040"/>
            <a:ext cx="5276088" cy="4023360"/>
          </a:xfrm>
          <a:prstGeom prst="roundRect">
            <a:avLst>
              <a:gd name="adj" fmla="val 5500"/>
            </a:avLst>
          </a:prstGeom>
          <a:solidFill>
            <a:srgbClr val="C2C6D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99632" y="1408176"/>
            <a:ext cx="5276088" cy="4023360"/>
          </a:xfrm>
          <a:prstGeom prst="roundRect">
            <a:avLst>
              <a:gd name="adj" fmla="val 5500"/>
            </a:avLst>
          </a:prstGeom>
          <a:solidFill>
            <a:srgbClr val="EE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481328"/>
            <a:ext cx="4910328" cy="49377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1">
                <a:solidFill>
                  <a:srgbClr val="3B3884"/>
                </a:solidFill>
                <a:latin typeface="Carlito"/>
              </a:rPr>
              <a:t>Результат замены на HashMap: </a:t>
            </a:r>
            <a:r>
              <a:rPr sz="1500" b="0">
                <a:solidFill>
                  <a:srgbClr val="3D455A"/>
                </a:solidFill>
                <a:latin typeface="Carlito"/>
              </a:rPr>
              <a:t>сокращение времени с 1 300,6 мс до 136,7 мс на 2 400 SKU</a:t>
            </a:r>
          </a:p>
        </p:txBody>
      </p:sp>
      <p:pic>
        <p:nvPicPr>
          <p:cNvPr id="10" name="Picture 9" descr="shot_4_optimized_hash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2048256"/>
            <a:ext cx="4983480" cy="29900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" y="438912"/>
            <a:ext cx="8046720" cy="7498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  <a:latin typeface="Carlito"/>
              </a:rPr>
              <a:t>Поиск узких мест O(n²) и индексация через HashMap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12064"/>
            <a:ext cx="278892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400" b="0">
                <a:solidFill>
                  <a:srgbClr val="E2DFF5"/>
                </a:solidFill>
                <a:latin typeface="Carlito"/>
              </a:rPr>
              <a:t>Axenix  /  </a:t>
            </a:r>
            <a:r>
              <a:rPr sz="1400" b="0">
                <a:solidFill>
                  <a:srgbClr val="FFFFFF"/>
                </a:solidFill>
                <a:latin typeface="Carlito"/>
              </a:rPr>
              <a:t>Java Blueprints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6126480"/>
            <a:ext cx="10927080" cy="13716"/>
          </a:xfrm>
          <a:prstGeom prst="rect">
            <a:avLst/>
          </a:prstGeom>
          <a:solidFill>
            <a:srgbClr val="8E8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5632704"/>
            <a:ext cx="10881360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0">
                <a:solidFill>
                  <a:srgbClr val="E2DFF5"/>
                </a:solidFill>
                <a:latin typeface="Carlito"/>
              </a:rPr>
              <a:t>При выборе проблемного узла на схеме редактор переходит к нужной строке кода и показывает вариант замены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254496"/>
            <a:ext cx="77724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rlito"/>
              </a:rPr>
              <a:t>Axenix Java Blueprints,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254496"/>
            <a:ext cx="1124712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Carlit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35337A"/>
              </a:gs>
              <a:gs pos="52000">
                <a:srgbClr val="524A98"/>
              </a:gs>
              <a:gs pos="100000">
                <a:srgbClr val="7868B6"/>
              </a:gs>
            </a:gsLst>
            <a:lin ang="15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4944" y="1481328"/>
            <a:ext cx="4892040" cy="3968496"/>
          </a:xfrm>
          <a:prstGeom prst="roundRect">
            <a:avLst>
              <a:gd name="adj" fmla="val 5500"/>
            </a:avLst>
          </a:prstGeom>
          <a:solidFill>
            <a:srgbClr val="C2C6D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1426464"/>
            <a:ext cx="4892040" cy="3968496"/>
          </a:xfrm>
          <a:prstGeom prst="roundRect">
            <a:avLst>
              <a:gd name="adj" fmla="val 5500"/>
            </a:avLst>
          </a:prstGeom>
          <a:solidFill>
            <a:srgbClr val="EE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07024" y="1481328"/>
            <a:ext cx="5632704" cy="3968496"/>
          </a:xfrm>
          <a:prstGeom prst="roundRect">
            <a:avLst>
              <a:gd name="adj" fmla="val 5500"/>
            </a:avLst>
          </a:prstGeom>
          <a:solidFill>
            <a:srgbClr val="C2C6D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33872" y="1426464"/>
            <a:ext cx="5632704" cy="3968496"/>
          </a:xfrm>
          <a:prstGeom prst="roundRect">
            <a:avLst>
              <a:gd name="adj" fmla="val 5500"/>
            </a:avLst>
          </a:prstGeom>
          <a:solidFill>
            <a:srgbClr val="EE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64208"/>
            <a:ext cx="4343400" cy="34747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>
                <a:solidFill>
                  <a:srgbClr val="3B3884"/>
                </a:solidFill>
                <a:latin typeface="Carlito"/>
              </a:rPr>
              <a:t>Сравнение времени выполнения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3283A"/>
                </a:solidFill>
                <a:latin typeface="Carlito"/>
              </a:rPr>
              <a:t>Сверка склада (2 400 SKU): </a:t>
            </a:r>
            <a:r>
              <a:rPr sz="1500">
                <a:solidFill>
                  <a:srgbClr val="3D455A"/>
                </a:solidFill>
                <a:latin typeface="Carlito"/>
              </a:rPr>
              <a:t>Вложенный цикл выполнял 5,76 млн сравнений (1 300,6 мс). После индексации HashMap время составило 136,7 мс.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3283A"/>
                </a:solidFill>
                <a:latin typeface="Carlito"/>
              </a:rPr>
              <a:t>Агрегация Stream API: </a:t>
            </a:r>
            <a:r>
              <a:rPr sz="1500">
                <a:solidFill>
                  <a:srgbClr val="3D455A"/>
                </a:solidFill>
                <a:latin typeface="Carlito"/>
              </a:rPr>
              <a:t>Повторная фильтрация списка в цикле заменена на Collectors.groupingBy (снижение с 162 мс до 14 мс).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3283A"/>
                </a:solidFill>
                <a:latin typeface="Carlito"/>
              </a:rPr>
              <a:t>Корреляция логов: </a:t>
            </a:r>
            <a:r>
              <a:rPr sz="1500">
                <a:solidFill>
                  <a:srgbClr val="3D455A"/>
                </a:solidFill>
                <a:latin typeface="Carlito"/>
              </a:rPr>
              <a:t>Предварительная группировка по ключу трассировки сократила расчёт со 101 мс до 1,4 мс.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053328" y="1600200"/>
          <a:ext cx="5193792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1792" y="438912"/>
            <a:ext cx="8046720" cy="7498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  <a:latin typeface="Carlito"/>
              </a:rPr>
              <a:t>Замеры времени выполнения на тестовых наборах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512064"/>
            <a:ext cx="278892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400" b="0">
                <a:solidFill>
                  <a:srgbClr val="E2DFF5"/>
                </a:solidFill>
                <a:latin typeface="Carlito"/>
              </a:rPr>
              <a:t>Axenix  /  </a:t>
            </a:r>
            <a:r>
              <a:rPr sz="1400" b="0">
                <a:solidFill>
                  <a:srgbClr val="FFFFFF"/>
                </a:solidFill>
                <a:latin typeface="Carlito"/>
              </a:rPr>
              <a:t>Java Blueprints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6126480"/>
            <a:ext cx="10927080" cy="13716"/>
          </a:xfrm>
          <a:prstGeom prst="rect">
            <a:avLst/>
          </a:prstGeom>
          <a:solidFill>
            <a:srgbClr val="8E8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5632704"/>
            <a:ext cx="10881360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0">
                <a:solidFill>
                  <a:srgbClr val="E2DFF5"/>
                </a:solidFill>
                <a:latin typeface="Carlito"/>
              </a:rPr>
              <a:t>Замеры выполнены на наборе из 1 200 заказов и 2 400 складских позиций при запуске на OpenJDK 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254496"/>
            <a:ext cx="77724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rlito"/>
              </a:rPr>
              <a:t>Axenix Java Blueprints,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254496"/>
            <a:ext cx="1124712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Carlit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35337A"/>
              </a:gs>
              <a:gs pos="52000">
                <a:srgbClr val="524A98"/>
              </a:gs>
              <a:gs pos="100000">
                <a:srgbClr val="7868B6"/>
              </a:gs>
            </a:gsLst>
            <a:lin ang="15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4944" y="1463040"/>
            <a:ext cx="5276088" cy="4023360"/>
          </a:xfrm>
          <a:prstGeom prst="roundRect">
            <a:avLst>
              <a:gd name="adj" fmla="val 5500"/>
            </a:avLst>
          </a:prstGeom>
          <a:solidFill>
            <a:srgbClr val="C2C6D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1408176"/>
            <a:ext cx="5276088" cy="4023360"/>
          </a:xfrm>
          <a:prstGeom prst="roundRect">
            <a:avLst>
              <a:gd name="adj" fmla="val 5500"/>
            </a:avLst>
          </a:prstGeom>
          <a:solidFill>
            <a:srgbClr val="EE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481328"/>
            <a:ext cx="4910328" cy="49377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1">
                <a:solidFill>
                  <a:srgbClr val="3B3884"/>
                </a:solidFill>
                <a:latin typeface="Carlito"/>
              </a:rPr>
              <a:t>Разделение монолита: </a:t>
            </a:r>
            <a:r>
              <a:rPr sz="1500" b="0">
                <a:solidFill>
                  <a:srgbClr val="3D455A"/>
                </a:solidFill>
                <a:latin typeface="Carlito"/>
              </a:rPr>
              <a:t>выделение классов Parser, Analyzer, Optimizer и Main</a:t>
            </a:r>
          </a:p>
        </p:txBody>
      </p:sp>
      <p:pic>
        <p:nvPicPr>
          <p:cNvPr id="6" name="Picture 5" descr="shot_5_srp_4cl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048256"/>
            <a:ext cx="4983480" cy="29900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72784" y="1463040"/>
            <a:ext cx="5276088" cy="4023360"/>
          </a:xfrm>
          <a:prstGeom prst="roundRect">
            <a:avLst>
              <a:gd name="adj" fmla="val 5500"/>
            </a:avLst>
          </a:prstGeom>
          <a:solidFill>
            <a:srgbClr val="C2C6D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99632" y="1408176"/>
            <a:ext cx="5276088" cy="4023360"/>
          </a:xfrm>
          <a:prstGeom prst="roundRect">
            <a:avLst>
              <a:gd name="adj" fmla="val 5500"/>
            </a:avLst>
          </a:prstGeom>
          <a:solidFill>
            <a:srgbClr val="EE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481328"/>
            <a:ext cx="4910328" cy="49377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1">
                <a:solidFill>
                  <a:srgbClr val="3B3884"/>
                </a:solidFill>
                <a:latin typeface="Carlito"/>
              </a:rPr>
              <a:t>Поддерживаемые конструкции: </a:t>
            </a:r>
            <a:r>
              <a:rPr sz="1500" b="0">
                <a:solidFill>
                  <a:srgbClr val="3D455A"/>
                </a:solidFill>
                <a:latin typeface="Carlito"/>
              </a:rPr>
              <a:t>переход к методам и тестам по каждому разделу языка Java</a:t>
            </a:r>
          </a:p>
        </p:txBody>
      </p:sp>
      <p:pic>
        <p:nvPicPr>
          <p:cNvPr id="10" name="Picture 9" descr="shot_6_scope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2048256"/>
            <a:ext cx="4983480" cy="29900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" y="438912"/>
            <a:ext cx="8046720" cy="7498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  <a:latin typeface="Carlito"/>
              </a:rPr>
              <a:t>Разделение на 4 класса и проверка конструкций Java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12064"/>
            <a:ext cx="278892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400" b="0">
                <a:solidFill>
                  <a:srgbClr val="E2DFF5"/>
                </a:solidFill>
                <a:latin typeface="Carlito"/>
              </a:rPr>
              <a:t>Axenix  /  </a:t>
            </a:r>
            <a:r>
              <a:rPr sz="1400" b="0">
                <a:solidFill>
                  <a:srgbClr val="FFFFFF"/>
                </a:solidFill>
                <a:latin typeface="Carlito"/>
              </a:rPr>
              <a:t>Java Blueprints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6126480"/>
            <a:ext cx="10927080" cy="13716"/>
          </a:xfrm>
          <a:prstGeom prst="rect">
            <a:avLst/>
          </a:prstGeom>
          <a:solidFill>
            <a:srgbClr val="8E8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5632704"/>
            <a:ext cx="10881360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0">
                <a:solidFill>
                  <a:srgbClr val="E2DFF5"/>
                </a:solidFill>
                <a:latin typeface="Carlito"/>
              </a:rPr>
              <a:t>Выделенные классы компилируются отдельно от исходного монолита и проходят те же самые тестовые наборы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254496"/>
            <a:ext cx="77724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rlito"/>
              </a:rPr>
              <a:t>Axenix Java Blueprints,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254496"/>
            <a:ext cx="1124712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Carlit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35337A"/>
              </a:gs>
              <a:gs pos="52000">
                <a:srgbClr val="524A98"/>
              </a:gs>
              <a:gs pos="100000">
                <a:srgbClr val="7868B6"/>
              </a:gs>
            </a:gsLst>
            <a:lin ang="15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4944" y="1481328"/>
            <a:ext cx="10844784" cy="3968496"/>
          </a:xfrm>
          <a:prstGeom prst="roundRect">
            <a:avLst>
              <a:gd name="adj" fmla="val 5500"/>
            </a:avLst>
          </a:prstGeom>
          <a:solidFill>
            <a:srgbClr val="C2C6D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1426464"/>
            <a:ext cx="10844784" cy="3968496"/>
          </a:xfrm>
          <a:prstGeom prst="roundRect">
            <a:avLst>
              <a:gd name="adj" fmla="val 5500"/>
            </a:avLst>
          </a:prstGeom>
          <a:solidFill>
            <a:srgbClr val="EE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1248" y="1591056"/>
          <a:ext cx="10405872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5559552"/>
                <a:gridCol w="1828800"/>
              </a:tblGrid>
              <a:tr h="59740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3283A"/>
                          </a:solidFill>
                          <a:latin typeface="Carlito"/>
                        </a:rPr>
                        <a:t>1. Основы языка и java.lang</a:t>
                      </a:r>
                    </a:p>
                  </a:txBody>
                  <a:tcPr anchor="ctr">
                    <a:solidFill>
                      <a:srgbClr val="EEF3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DCD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3D455A"/>
                          </a:solidFill>
                          <a:latin typeface="Carlito"/>
                        </a:rPr>
                        <a:t>классы, интерфейсы, массивы double[], if/else, switch, циклы, Math, String, System</a:t>
                      </a:r>
                    </a:p>
                  </a:txBody>
                  <a:tcPr anchor="ctr">
                    <a:solidFill>
                      <a:srgbClr val="EEF3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DCD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6794B"/>
                          </a:solidFill>
                          <a:latin typeface="Carlito"/>
                        </a:rPr>
                        <a:t>Тесты T01–T08</a:t>
                      </a:r>
                    </a:p>
                  </a:txBody>
                  <a:tcPr anchor="ctr">
                    <a:solidFill>
                      <a:srgbClr val="EEF3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DCD1"/>
                      </a:solidFill>
                    </a:lnB>
                  </a:tcPr>
                </a:tc>
              </a:tr>
              <a:tr h="59740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3283A"/>
                          </a:solidFill>
                          <a:latin typeface="Carlito"/>
                        </a:rPr>
                        <a:t>2. Консольный ввод и вывод</a:t>
                      </a:r>
                    </a:p>
                  </a:txBody>
                  <a:tcPr anchor="ctr">
                    <a:solidFill>
                      <a:srgbClr val="EEF3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DCD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3D455A"/>
                          </a:solidFill>
                          <a:latin typeface="Carlito"/>
                        </a:rPr>
                        <a:t>System.in/out/err, Scanner, Formatter, printf и кодировка UTF-8 для кириллицы</a:t>
                      </a:r>
                    </a:p>
                  </a:txBody>
                  <a:tcPr anchor="ctr">
                    <a:solidFill>
                      <a:srgbClr val="EEF3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DCD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6794B"/>
                          </a:solidFill>
                          <a:latin typeface="Carlito"/>
                        </a:rPr>
                        <a:t>Тест T09 (UTF-8)</a:t>
                      </a:r>
                    </a:p>
                  </a:txBody>
                  <a:tcPr anchor="ctr">
                    <a:solidFill>
                      <a:srgbClr val="EEF3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DCD1"/>
                      </a:solidFill>
                    </a:lnB>
                  </a:tcPr>
                </a:tc>
              </a:tr>
              <a:tr h="59740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3283A"/>
                          </a:solidFill>
                          <a:latin typeface="Carlito"/>
                        </a:rPr>
                        <a:t>3. Коллекции java.util</a:t>
                      </a:r>
                    </a:p>
                  </a:txBody>
                  <a:tcPr anchor="ctr">
                    <a:solidFill>
                      <a:srgbClr val="EEF3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DCD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3D455A"/>
                          </a:solidFill>
                          <a:latin typeface="Carlito"/>
                        </a:rPr>
                        <a:t>List, Set, Map, ArrayList, LinkedList, HashSet, TreeSet, HashMap, TreeMap, Optional</a:t>
                      </a:r>
                    </a:p>
                  </a:txBody>
                  <a:tcPr anchor="ctr">
                    <a:solidFill>
                      <a:srgbClr val="EEF3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DCD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6794B"/>
                          </a:solidFill>
                          <a:latin typeface="Carlito"/>
                        </a:rPr>
                        <a:t>Ускорение 9,51x</a:t>
                      </a:r>
                    </a:p>
                  </a:txBody>
                  <a:tcPr anchor="ctr">
                    <a:solidFill>
                      <a:srgbClr val="EEF3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DCD1"/>
                      </a:solidFill>
                    </a:lnB>
                  </a:tcPr>
                </a:tc>
              </a:tr>
              <a:tr h="59740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3283A"/>
                          </a:solidFill>
                          <a:latin typeface="Carlito"/>
                        </a:rPr>
                        <a:t>4. Обработка исключений</a:t>
                      </a:r>
                    </a:p>
                  </a:txBody>
                  <a:tcPr anchor="ctr">
                    <a:solidFill>
                      <a:srgbClr val="EEF3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DCD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3D455A"/>
                          </a:solidFill>
                          <a:latin typeface="Carlito"/>
                        </a:rPr>
                        <a:t>проверяемые и непроверяемые исключения, throws, блоки try/catch/finally</a:t>
                      </a:r>
                    </a:p>
                  </a:txBody>
                  <a:tcPr anchor="ctr">
                    <a:solidFill>
                      <a:srgbClr val="EEF3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DCD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6794B"/>
                          </a:solidFill>
                          <a:latin typeface="Carlito"/>
                        </a:rPr>
                        <a:t>Тест T10</a:t>
                      </a:r>
                    </a:p>
                  </a:txBody>
                  <a:tcPr anchor="ctr">
                    <a:solidFill>
                      <a:srgbClr val="EEF3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DCD1"/>
                      </a:solidFill>
                    </a:lnB>
                  </a:tcPr>
                </a:tc>
              </a:tr>
              <a:tr h="59740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3283A"/>
                          </a:solidFill>
                          <a:latin typeface="Carlito"/>
                        </a:rPr>
                        <a:t>5. Классы record и Generics</a:t>
                      </a:r>
                    </a:p>
                  </a:txBody>
                  <a:tcPr anchor="ctr">
                    <a:solidFill>
                      <a:srgbClr val="EEF3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DCD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3D455A"/>
                          </a:solidFill>
                          <a:latin typeface="Carlito"/>
                        </a:rPr>
                        <a:t>record TransactionRecord, enum с расчётом комиссии и SmartGenericIndex&lt;K, V&gt;</a:t>
                      </a:r>
                    </a:p>
                  </a:txBody>
                  <a:tcPr anchor="ctr">
                    <a:solidFill>
                      <a:srgbClr val="EEF3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DCD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6794B"/>
                          </a:solidFill>
                          <a:latin typeface="Carlito"/>
                        </a:rPr>
                        <a:t>Тест T15 (11,57x)</a:t>
                      </a:r>
                    </a:p>
                  </a:txBody>
                  <a:tcPr anchor="ctr">
                    <a:solidFill>
                      <a:srgbClr val="EEF3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3DCD1"/>
                      </a:solidFill>
                    </a:lnB>
                  </a:tcPr>
                </a:tc>
              </a:tr>
              <a:tr h="59740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3283A"/>
                          </a:solidFill>
                          <a:latin typeface="Carlito"/>
                        </a:rPr>
                        <a:t>6. Лямбды и Stream API</a:t>
                      </a:r>
                    </a:p>
                  </a:txBody>
                  <a:tcPr anchor="ctr">
                    <a:solidFill>
                      <a:srgbClr val="EEF3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EF3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3D455A"/>
                          </a:solidFill>
                          <a:latin typeface="Carlito"/>
                        </a:rPr>
                        <a:t>Predicate, BiFunction, groupingBy, partitioningBy, summarizingDouble, flatMap</a:t>
                      </a:r>
                    </a:p>
                  </a:txBody>
                  <a:tcPr anchor="ctr">
                    <a:solidFill>
                      <a:srgbClr val="EEF3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EF3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6794B"/>
                          </a:solidFill>
                          <a:latin typeface="Carlito"/>
                        </a:rPr>
                        <a:t>Тест T16 (12,59x)</a:t>
                      </a:r>
                    </a:p>
                  </a:txBody>
                  <a:tcPr anchor="ctr">
                    <a:solidFill>
                      <a:srgbClr val="EEF3EC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EF3E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" y="438912"/>
            <a:ext cx="8046720" cy="7498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  <a:latin typeface="Carlito"/>
              </a:rPr>
              <a:t>Поддерживаемые конструкции языка Java и тесты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512064"/>
            <a:ext cx="278892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400" b="0">
                <a:solidFill>
                  <a:srgbClr val="E2DFF5"/>
                </a:solidFill>
                <a:latin typeface="Carlito"/>
              </a:rPr>
              <a:t>Axenix  /  </a:t>
            </a:r>
            <a:r>
              <a:rPr sz="1400" b="0">
                <a:solidFill>
                  <a:srgbClr val="FFFFFF"/>
                </a:solidFill>
                <a:latin typeface="Carlito"/>
              </a:rPr>
              <a:t>Java Blueprints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6126480"/>
            <a:ext cx="10927080" cy="13716"/>
          </a:xfrm>
          <a:prstGeom prst="rect">
            <a:avLst/>
          </a:prstGeom>
          <a:solidFill>
            <a:srgbClr val="8E8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5632704"/>
            <a:ext cx="10881360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0">
                <a:solidFill>
                  <a:srgbClr val="E2DFF5"/>
                </a:solidFill>
                <a:latin typeface="Carlito"/>
              </a:rPr>
              <a:t>На всех 16 тестовых наборах вывод исходного монолита и обновлённых классов совпадает побайтово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254496"/>
            <a:ext cx="77724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rlito"/>
              </a:rPr>
              <a:t>Axenix Java Blueprints,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254496"/>
            <a:ext cx="1124712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Carlit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35337A"/>
              </a:gs>
              <a:gs pos="52000">
                <a:srgbClr val="524A98"/>
              </a:gs>
              <a:gs pos="100000">
                <a:srgbClr val="7868B6"/>
              </a:gs>
            </a:gsLst>
            <a:lin ang="15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" y="6126480"/>
            <a:ext cx="10927080" cy="13716"/>
          </a:xfrm>
          <a:prstGeom prst="rect">
            <a:avLst/>
          </a:prstGeom>
          <a:solidFill>
            <a:srgbClr val="8E8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6254496"/>
            <a:ext cx="77724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rlito"/>
              </a:rPr>
              <a:t>Axenix Java Blueprints,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254496"/>
            <a:ext cx="1124712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Carlito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50292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E2DFF5"/>
                </a:solidFill>
                <a:latin typeface="Carlito"/>
              </a:rPr>
              <a:t>Axenix  /  Java Blueprints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057400"/>
            <a:ext cx="10607040" cy="2743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800"/>
              </a:spcAft>
            </a:pPr>
            <a:r>
              <a:rPr sz="3800" b="0">
                <a:solidFill>
                  <a:srgbClr val="FFFFFF"/>
                </a:solidFill>
                <a:latin typeface="Carlito"/>
              </a:rPr>
              <a:t>Итоги работы над проектом</a:t>
            </a:r>
          </a:p>
          <a:p>
            <a:pPr algn="l"/>
            <a:r>
              <a:rPr sz="2100" b="0">
                <a:solidFill>
                  <a:srgbClr val="E2DFF5"/>
                </a:solidFill>
                <a:latin typeface="Carlito"/>
              </a:rPr>
              <a:t>Сокращение времени обработки с 1 300,6 мс до 136,7 мс и разделение монолита на 4 модуля (16 из 16 тестов).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